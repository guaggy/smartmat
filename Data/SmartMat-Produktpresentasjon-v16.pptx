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Poeng å si muntlig: Programmet er det samme i alle tre oppsett; det som varierer er hvordan matten kobles til (steg 2). Pilot = tidlig versjon (v0.1) som vi tilpasser dere. Direkte (USB) er enklest: én matte, én PC, data blir lokalt. Trådløs og Avdeling er neste steg. Status-brikkene må oppdateres etter hardwaretesten med ekte matte. Slett anbefalingsboksen nederst hvis decken brukes mot andre enn pilotkunden.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COVER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dian 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261100"/>
            <a:ext cx="1539240" cy="2159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826770"/>
            <a:ext cx="4826000" cy="177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270"/>
              </a:lnSpc>
              <a:buNone/>
              <a:defRPr lang="en-US" sz="4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ts val="4270"/>
              </a:lnSpc>
              <a:buNone/>
            </a:pPr>
            <a:endParaRPr lang="en-US" sz="4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A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dian 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261100"/>
            <a:ext cx="1539240" cy="2159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998220"/>
            <a:ext cx="10566400" cy="431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B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dian 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261100"/>
            <a:ext cx="1539240" cy="2159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998220"/>
            <a:ext cx="10566400" cy="40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C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dian 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261100"/>
            <a:ext cx="1539240" cy="2159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864870"/>
            <a:ext cx="10922000" cy="838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3130"/>
              </a:lnSpc>
              <a:buNone/>
              <a:defRPr lang="en-US" sz="2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ts val="313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_D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rdian Medi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6261100"/>
            <a:ext cx="1539240" cy="2159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27430"/>
            <a:ext cx="9906000" cy="838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3130"/>
              </a:lnSpc>
              <a:buNone/>
              <a:defRPr lang="en-US" sz="28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ts val="3130"/>
              </a:lnSpc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826770"/>
            <a:ext cx="482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70"/>
              </a:lnSpc>
              <a:buNone/>
            </a:pPr>
            <a:r>
              <a:rPr lang="en-US" sz="4100" b="1" spc="-10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Få kontroll over </a:t>
            </a:r>
            <a:pPr algn="l" indent="0" marL="0">
              <a:lnSpc>
                <a:spcPts val="4270"/>
              </a:lnSpc>
              <a:buNone/>
            </a:pPr>
            <a:r>
              <a:rPr lang="en-US" sz="4100" b="1" spc="-10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trykksår </a:t>
            </a:r>
            <a:pPr algn="l" indent="0" marL="0">
              <a:lnSpc>
                <a:spcPts val="4270"/>
              </a:lnSpc>
              <a:buNone/>
            </a:pPr>
            <a:r>
              <a:rPr lang="en-US" sz="4100" b="1" spc="-100" kern="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før de </a:t>
            </a:r>
            <a:pPr algn="l" indent="0" marL="0">
              <a:lnSpc>
                <a:spcPts val="4270"/>
              </a:lnSpc>
              <a:buNone/>
            </a:pPr>
            <a:r>
              <a:rPr lang="en-US" sz="4100" b="1" spc="-100" kern="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oppstår.</a:t>
            </a:r>
            <a:endParaRPr lang="en-US" sz="4100" dirty="0"/>
          </a:p>
        </p:txBody>
      </p:sp>
      <p:pic>
        <p:nvPicPr>
          <p:cNvPr id="3" name="Image 0" descr="Rullestol med tynn sensormatte i setet som viser trykk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0007" y="533146"/>
            <a:ext cx="5099812" cy="50796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2927" y="2660396"/>
            <a:ext cx="5206873" cy="24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tynn sensormatte i setet viser hvor trykket bygger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12927" y="2954909"/>
            <a:ext cx="4990465" cy="24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 opp, varsler personalet i tide og dokumenterer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927" y="3249422"/>
            <a:ext cx="2469134" cy="245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avlastningen automatisk.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27" y="3881755"/>
            <a:ext cx="211074" cy="30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18946" y="3890645"/>
            <a:ext cx="46342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Måle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18946" y="4073144"/>
            <a:ext cx="321398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Kontinuerlig trykkart av setet, under 5 mm tynt.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2927" y="4389628"/>
            <a:ext cx="261366" cy="30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218946" y="4398645"/>
            <a:ext cx="57264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Varsle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18946" y="4581144"/>
            <a:ext cx="438327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Personalet får beskjed når et område har vært belastet for lenge.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2927" y="4897628"/>
            <a:ext cx="265430" cy="30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218946" y="4906645"/>
            <a:ext cx="11051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Dokumentere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18946" y="5089144"/>
            <a:ext cx="2679573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Hver avlastning registreres automatisk.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864870"/>
            <a:ext cx="1092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0"/>
              </a:lnSpc>
              <a:buNone/>
            </a:pPr>
            <a:r>
              <a:rPr lang="en-US" sz="2800" b="1" spc="-5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Trykksår er et problem som forekommer ofte, er kostbart og kan forebygges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546" y="2488692"/>
            <a:ext cx="2488692" cy="1371219"/>
          </a:xfrm>
          <a:prstGeom prst="rect">
            <a:avLst/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04946" y="2488692"/>
            <a:ext cx="2488692" cy="1371219"/>
          </a:xfrm>
          <a:prstGeom prst="rect">
            <a:avLst/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97346" y="2488692"/>
            <a:ext cx="2488692" cy="1371219"/>
          </a:xfrm>
          <a:prstGeom prst="rect">
            <a:avLst/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9492" y="2488692"/>
            <a:ext cx="2488692" cy="1371219"/>
          </a:xfrm>
          <a:prstGeom prst="rect">
            <a:avLst/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546" y="4470146"/>
            <a:ext cx="3386836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2455" y="4470146"/>
            <a:ext cx="3386836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2364" y="4470146"/>
            <a:ext cx="3386455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2927" y="2188972"/>
            <a:ext cx="86347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5492" y="2704211"/>
            <a:ext cx="1397000" cy="46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7–15 %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015492" y="3280791"/>
            <a:ext cx="2018919" cy="33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sykehuspasienter i Norge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 trykksår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08019" y="2704211"/>
            <a:ext cx="1038987" cy="46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708019" y="3280791"/>
            <a:ext cx="2013077" cy="33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beboere på sykehjem har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trykksår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419" y="2704211"/>
            <a:ext cx="2130933" cy="46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 MNOK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419" y="3280791"/>
            <a:ext cx="2174494" cy="33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direkte behandlingskostnader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hvert år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92819" y="2704211"/>
            <a:ext cx="1951228" cy="46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 MNOK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92819" y="3280791"/>
            <a:ext cx="1850771" cy="336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koster ett enkelt trykksår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stadium IV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2927" y="4170045"/>
            <a:ext cx="165684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Hvorfor det blir verre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2927" y="4606544"/>
            <a:ext cx="1123442" cy="33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+120 %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12927" y="5008118"/>
            <a:ext cx="88277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Flere eldre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2927" y="5190617"/>
            <a:ext cx="3306445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Gruppen over 80 år vokser kraftig mot 2040, og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927" y="5358384"/>
            <a:ext cx="153720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risikogruppen dobles.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02836" y="4606544"/>
            <a:ext cx="1087755" cy="33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28 000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402836" y="5008118"/>
            <a:ext cx="143522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Færre sykepleiere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402836" y="5190617"/>
            <a:ext cx="339115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Mangelen på sykepleiere i 2030 gjør at tiden ikke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402836" y="5358384"/>
            <a:ext cx="83146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strekker til.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992364" y="4606544"/>
            <a:ext cx="1218438" cy="33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65+ min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992364" y="5008118"/>
            <a:ext cx="132168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Manuelle rutiner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92364" y="5190617"/>
            <a:ext cx="319366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Brukes per vakt på vendeskjemaer og manuell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92364" y="5358384"/>
            <a:ext cx="851662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oppfølging.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12546" y="5896102"/>
            <a:ext cx="3209671" cy="138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Kilder: SSB, Helsedirektoratet, Perspektivmeldingen 2024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998220"/>
            <a:ext cx="1056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5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tekstilsensor i fem lag i en setepute, på stolene dere allerede har</a:t>
            </a:r>
            <a:endParaRPr lang="en-US" sz="2600" dirty="0"/>
          </a:p>
        </p:txBody>
      </p:sp>
      <p:pic>
        <p:nvPicPr>
          <p:cNvPr id="3" name="Image 0" descr="Sensoren i fem lag: toppstoff, Y-elektroder, sensorfilm, X-elektroder og bunnstoff, montert i setet på en rulle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260600"/>
            <a:ext cx="6807200" cy="3606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2546" y="2050034"/>
            <a:ext cx="101511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Oppbygning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12927" y="5557139"/>
            <a:ext cx="166776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Montert: under 5 mm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2546" y="5787898"/>
            <a:ext cx="1984502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Brukes på: standard rullestol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9146" y="2050034"/>
            <a:ext cx="94564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endres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99146" y="2354199"/>
            <a:ext cx="370332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Brukere: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avlastes når vevet trenger det, ikke etter fast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99146" y="2567686"/>
            <a:ext cx="52717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klokke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99146" y="2856738"/>
            <a:ext cx="2981452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Personale: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sanntidskart, prioriterte varsler,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99146" y="3070225"/>
            <a:ext cx="135382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automatisk logging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99146" y="3360039"/>
            <a:ext cx="3306953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Ledere: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oversikt over enheten og full sporbarhet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99146" y="3649091"/>
            <a:ext cx="3398012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Innkjøp: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tillegg til eksisterende stoler, driftsmodell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99146" y="4239133"/>
            <a:ext cx="187566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Slik kommer dere i gang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899146" y="4543679"/>
            <a:ext cx="250329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Pilot: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1–2 stoler, 6–8 uker, én enhet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899146" y="4833112"/>
            <a:ext cx="326224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Evaluere: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varsler, personaltid, dokumentasjon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9527" y="5122545"/>
            <a:ext cx="2847086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Utrulling: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enhet for enhet, rammeavtale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2927" y="2762123"/>
            <a:ext cx="96126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Toppstoff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12927" y="3270123"/>
            <a:ext cx="1207262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Y-elektroder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12927" y="3777996"/>
            <a:ext cx="108305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Sensorfilm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2927" y="4285996"/>
            <a:ext cx="121945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X-elektroder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12927" y="4793996"/>
            <a:ext cx="1002284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Bunnstoff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12546" y="2956814"/>
            <a:ext cx="159893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Pustende tekstil, RoHS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12546" y="3464814"/>
            <a:ext cx="1268476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ledende baner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2546" y="3972687"/>
            <a:ext cx="141617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0,8–200 kPa, ±15 %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12546" y="4480687"/>
            <a:ext cx="123024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× 20 = 400 punkter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12546" y="4989068"/>
            <a:ext cx="1066673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Limt eller sydd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998220"/>
            <a:ext cx="1056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 matte til beslutning: ett program, tre oppsett</a:t>
            </a:r>
            <a:endParaRPr lang="en-US" sz="2800" dirty="0"/>
          </a:p>
        </p:txBody>
      </p:sp>
      <p:sp>
        <p:nvSpPr>
          <p:cNvPr id="3" name="Label pipeline"/>
          <p:cNvSpPr txBox="1"/>
          <p:nvPr/>
        </p:nvSpPr>
        <p:spPr>
          <a:xfrm>
            <a:off x="812800" y="1752600"/>
            <a:ext cx="1056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Slik går dataene fra matte til skjerm</a:t>
            </a:r>
            <a:endParaRPr lang="en-US" sz="1200" dirty="0"/>
          </a:p>
        </p:txBody>
      </p:sp>
      <p:sp>
        <p:nvSpPr>
          <p:cNvPr id="4" name="Pipeline box 1"/>
          <p:cNvSpPr/>
          <p:nvPr/>
        </p:nvSpPr>
        <p:spPr>
          <a:xfrm>
            <a:off x="812800" y="2032000"/>
            <a:ext cx="2355850" cy="863600"/>
          </a:xfrm>
          <a:prstGeom prst="roundRect">
            <a:avLst>
              <a:gd name="adj" fmla="val 444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Pipeline title 1"/>
          <p:cNvSpPr txBox="1"/>
          <p:nvPr/>
        </p:nvSpPr>
        <p:spPr>
          <a:xfrm>
            <a:off x="990600" y="2171700"/>
            <a:ext cx="20002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Sensormatte</a:t>
            </a:r>
            <a:endParaRPr lang="en-US" sz="1200" dirty="0"/>
          </a:p>
        </p:txBody>
      </p:sp>
      <p:sp>
        <p:nvSpPr>
          <p:cNvPr id="6" name="Pipeline text 1"/>
          <p:cNvSpPr txBox="1"/>
          <p:nvPr/>
        </p:nvSpPr>
        <p:spPr>
          <a:xfrm>
            <a:off x="990600" y="24130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målepunkter i en tynn setepute</a:t>
            </a:r>
            <a:endParaRPr lang="en-US" sz="1100" dirty="0"/>
          </a:p>
        </p:txBody>
      </p:sp>
      <p:sp>
        <p:nvSpPr>
          <p:cNvPr id="7" name="Pipeline arrow 1"/>
          <p:cNvSpPr/>
          <p:nvPr/>
        </p:nvSpPr>
        <p:spPr>
          <a:xfrm>
            <a:off x="3295650" y="2362200"/>
            <a:ext cx="127000" cy="203200"/>
          </a:xfrm>
          <a:prstGeom prst="chevron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8" name="Pipeline box 2"/>
          <p:cNvSpPr/>
          <p:nvPr/>
        </p:nvSpPr>
        <p:spPr>
          <a:xfrm>
            <a:off x="3549650" y="2032000"/>
            <a:ext cx="2355850" cy="863600"/>
          </a:xfrm>
          <a:prstGeom prst="roundRect">
            <a:avLst>
              <a:gd name="adj" fmla="val 444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Pipeline title 2"/>
          <p:cNvSpPr txBox="1"/>
          <p:nvPr/>
        </p:nvSpPr>
        <p:spPr>
          <a:xfrm>
            <a:off x="3727450" y="2171700"/>
            <a:ext cx="20002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Innlesing</a:t>
            </a:r>
            <a:endParaRPr lang="en-US" sz="1200" dirty="0"/>
          </a:p>
        </p:txBody>
      </p:sp>
      <p:sp>
        <p:nvSpPr>
          <p:cNvPr id="10" name="Pipeline text 2"/>
          <p:cNvSpPr txBox="1"/>
          <p:nvPr/>
        </p:nvSpPr>
        <p:spPr>
          <a:xfrm>
            <a:off x="3727450" y="24130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rett til PC, eller trådløst via WiFi</a:t>
            </a:r>
            <a:endParaRPr lang="en-US" sz="1100" dirty="0"/>
          </a:p>
        </p:txBody>
      </p:sp>
      <p:sp>
        <p:nvSpPr>
          <p:cNvPr id="11" name="Pipeline arrow 2"/>
          <p:cNvSpPr/>
          <p:nvPr/>
        </p:nvSpPr>
        <p:spPr>
          <a:xfrm>
            <a:off x="6032500" y="2362200"/>
            <a:ext cx="127000" cy="203200"/>
          </a:xfrm>
          <a:prstGeom prst="chevron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2" name="Pipeline box 3"/>
          <p:cNvSpPr/>
          <p:nvPr/>
        </p:nvSpPr>
        <p:spPr>
          <a:xfrm>
            <a:off x="6286500" y="2032000"/>
            <a:ext cx="2355850" cy="863600"/>
          </a:xfrm>
          <a:prstGeom prst="roundRect">
            <a:avLst>
              <a:gd name="adj" fmla="val 444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Pipeline title 3"/>
          <p:cNvSpPr txBox="1"/>
          <p:nvPr/>
        </p:nvSpPr>
        <p:spPr>
          <a:xfrm>
            <a:off x="6464300" y="2171700"/>
            <a:ext cx="20002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</a:t>
            </a:r>
            <a:endParaRPr lang="en-US" sz="1200" dirty="0"/>
          </a:p>
        </p:txBody>
      </p:sp>
      <p:sp>
        <p:nvSpPr>
          <p:cNvPr id="14" name="Pipeline text 3"/>
          <p:cNvSpPr txBox="1"/>
          <p:nvPr/>
        </p:nvSpPr>
        <p:spPr>
          <a:xfrm>
            <a:off x="6464300" y="24130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Kalibrering, trykkart, tid under trykk, avlastning</a:t>
            </a:r>
            <a:endParaRPr lang="en-US" sz="1100" dirty="0"/>
          </a:p>
        </p:txBody>
      </p:sp>
      <p:sp>
        <p:nvSpPr>
          <p:cNvPr id="15" name="Pipeline arrow 3"/>
          <p:cNvSpPr/>
          <p:nvPr/>
        </p:nvSpPr>
        <p:spPr>
          <a:xfrm>
            <a:off x="8769350" y="2362200"/>
            <a:ext cx="127000" cy="203200"/>
          </a:xfrm>
          <a:prstGeom prst="chevron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</p:sp>
      <p:sp>
        <p:nvSpPr>
          <p:cNvPr id="16" name="Pipeline box 4"/>
          <p:cNvSpPr/>
          <p:nvPr/>
        </p:nvSpPr>
        <p:spPr>
          <a:xfrm>
            <a:off x="9023350" y="2032000"/>
            <a:ext cx="2355850" cy="863600"/>
          </a:xfrm>
          <a:prstGeom prst="roundRect">
            <a:avLst>
              <a:gd name="adj" fmla="val 4447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Pipeline title 4"/>
          <p:cNvSpPr txBox="1"/>
          <p:nvPr/>
        </p:nvSpPr>
        <p:spPr>
          <a:xfrm>
            <a:off x="9201150" y="2171700"/>
            <a:ext cx="20002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Visning</a:t>
            </a:r>
            <a:endParaRPr lang="en-US" sz="1200" dirty="0"/>
          </a:p>
        </p:txBody>
      </p:sp>
      <p:sp>
        <p:nvSpPr>
          <p:cNvPr id="18" name="Pipeline text 4"/>
          <p:cNvSpPr txBox="1"/>
          <p:nvPr/>
        </p:nvSpPr>
        <p:spPr>
          <a:xfrm>
            <a:off x="9201150" y="2413000"/>
            <a:ext cx="200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Dashbord, varsler, opptak og eksport</a:t>
            </a:r>
            <a:endParaRPr lang="en-US" sz="1100" dirty="0"/>
          </a:p>
        </p:txBody>
      </p:sp>
      <p:sp>
        <p:nvSpPr>
          <p:cNvPr id="19" name="Label setups"/>
          <p:cNvSpPr txBox="1"/>
          <p:nvPr/>
        </p:nvSpPr>
        <p:spPr>
          <a:xfrm>
            <a:off x="812800" y="3098800"/>
            <a:ext cx="10566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oppsett: samme analyse og visning, ulik tilkobling</a:t>
            </a:r>
            <a:endParaRPr lang="en-US" sz="1200" dirty="0"/>
          </a:p>
        </p:txBody>
      </p:sp>
      <p:sp>
        <p:nvSpPr>
          <p:cNvPr id="20" name="Setup card Direkte"/>
          <p:cNvSpPr/>
          <p:nvPr/>
        </p:nvSpPr>
        <p:spPr>
          <a:xfrm>
            <a:off x="812800" y="3378200"/>
            <a:ext cx="3369733" cy="1905000"/>
          </a:xfrm>
          <a:prstGeom prst="roundRect">
            <a:avLst>
              <a:gd name="adj" fmla="val 201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1" name="Setup name Direkte"/>
          <p:cNvSpPr txBox="1"/>
          <p:nvPr/>
        </p:nvSpPr>
        <p:spPr>
          <a:xfrm>
            <a:off x="1016000" y="35433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Direkte</a:t>
            </a:r>
            <a:endParaRPr lang="en-US" sz="1200" dirty="0"/>
          </a:p>
        </p:txBody>
      </p:sp>
      <p:sp>
        <p:nvSpPr>
          <p:cNvPr id="22" name="Tag anbefalt"/>
          <p:cNvSpPr/>
          <p:nvPr/>
        </p:nvSpPr>
        <p:spPr>
          <a:xfrm>
            <a:off x="2658533" y="3517900"/>
            <a:ext cx="1320800" cy="241300"/>
          </a:xfrm>
          <a:prstGeom prst="roundRect">
            <a:avLst>
              <a:gd name="adj" fmla="val 26526"/>
            </a:avLst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</p:sp>
      <p:sp>
        <p:nvSpPr>
          <p:cNvPr id="23" name="Tag anbefalt text"/>
          <p:cNvSpPr txBox="1"/>
          <p:nvPr/>
        </p:nvSpPr>
        <p:spPr>
          <a:xfrm>
            <a:off x="2658533" y="3517900"/>
            <a:ext cx="1320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Anbefalt for pilot</a:t>
            </a:r>
            <a:endParaRPr lang="en-US" sz="1000" dirty="0"/>
          </a:p>
        </p:txBody>
      </p:sp>
      <p:sp>
        <p:nvSpPr>
          <p:cNvPr id="24" name="Setup chain Direkte"/>
          <p:cNvSpPr txBox="1"/>
          <p:nvPr/>
        </p:nvSpPr>
        <p:spPr>
          <a:xfrm>
            <a:off x="1016000" y="3835400"/>
            <a:ext cx="2963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 › USB › PC med programmet</a:t>
            </a:r>
            <a:endParaRPr lang="en-US" sz="1100" dirty="0"/>
          </a:p>
        </p:txBody>
      </p:sp>
      <p:sp>
        <p:nvSpPr>
          <p:cNvPr id="25" name="Setup best label Direkte"/>
          <p:cNvSpPr txBox="1"/>
          <p:nvPr/>
        </p:nvSpPr>
        <p:spPr>
          <a:xfrm>
            <a:off x="1016000" y="4140200"/>
            <a:ext cx="29633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 best for</a:t>
            </a:r>
            <a:endParaRPr lang="en-US" sz="1000" dirty="0"/>
          </a:p>
        </p:txBody>
      </p:sp>
      <p:sp>
        <p:nvSpPr>
          <p:cNvPr id="26" name="Setup best Direkte"/>
          <p:cNvSpPr txBox="1"/>
          <p:nvPr/>
        </p:nvSpPr>
        <p:spPr>
          <a:xfrm>
            <a:off x="1016000" y="4330700"/>
            <a:ext cx="29633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Undervisning og pilot. 1–2 matter, lett modus for elever, ingen nettverksoppsett.</a:t>
            </a:r>
            <a:endParaRPr lang="en-US" sz="1100" dirty="0"/>
          </a:p>
        </p:txBody>
      </p:sp>
      <p:sp>
        <p:nvSpPr>
          <p:cNvPr id="27" name="Status pill Direkte"/>
          <p:cNvSpPr/>
          <p:nvPr/>
        </p:nvSpPr>
        <p:spPr>
          <a:xfrm>
            <a:off x="1016000" y="4940300"/>
            <a:ext cx="1427480" cy="241300"/>
          </a:xfrm>
          <a:prstGeom prst="roundRect">
            <a:avLst>
              <a:gd name="adj" fmla="val 2652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Status text Direkte"/>
          <p:cNvSpPr txBox="1"/>
          <p:nvPr/>
        </p:nvSpPr>
        <p:spPr>
          <a:xfrm>
            <a:off x="1016000" y="4940300"/>
            <a:ext cx="142748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I testing</a:t>
            </a:r>
            <a:endParaRPr lang="en-US" sz="1000" dirty="0"/>
          </a:p>
        </p:txBody>
      </p:sp>
      <p:sp>
        <p:nvSpPr>
          <p:cNvPr id="29" name="Setup card Trådløs"/>
          <p:cNvSpPr/>
          <p:nvPr/>
        </p:nvSpPr>
        <p:spPr>
          <a:xfrm>
            <a:off x="4411133" y="3378200"/>
            <a:ext cx="3369733" cy="1905000"/>
          </a:xfrm>
          <a:prstGeom prst="roundRect">
            <a:avLst>
              <a:gd name="adj" fmla="val 201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Setup name Trådløs"/>
          <p:cNvSpPr txBox="1"/>
          <p:nvPr/>
        </p:nvSpPr>
        <p:spPr>
          <a:xfrm>
            <a:off x="4614333" y="35433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Trådløs</a:t>
            </a:r>
            <a:endParaRPr lang="en-US" sz="1200" dirty="0"/>
          </a:p>
        </p:txBody>
      </p:sp>
      <p:sp>
        <p:nvSpPr>
          <p:cNvPr id="31" name="Setup chain Trådløs"/>
          <p:cNvSpPr txBox="1"/>
          <p:nvPr/>
        </p:nvSpPr>
        <p:spPr>
          <a:xfrm>
            <a:off x="4614333" y="3835400"/>
            <a:ext cx="2963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 › ESP32 › WiFi › PC/server</a:t>
            </a:r>
            <a:endParaRPr lang="en-US" sz="1100" dirty="0"/>
          </a:p>
        </p:txBody>
      </p:sp>
      <p:sp>
        <p:nvSpPr>
          <p:cNvPr id="32" name="Setup best label Trådløs"/>
          <p:cNvSpPr txBox="1"/>
          <p:nvPr/>
        </p:nvSpPr>
        <p:spPr>
          <a:xfrm>
            <a:off x="4614333" y="4140200"/>
            <a:ext cx="29633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 best for</a:t>
            </a:r>
            <a:endParaRPr lang="en-US" sz="1000" dirty="0"/>
          </a:p>
        </p:txBody>
      </p:sp>
      <p:sp>
        <p:nvSpPr>
          <p:cNvPr id="33" name="Setup best Trådløs"/>
          <p:cNvSpPr txBox="1"/>
          <p:nvPr/>
        </p:nvSpPr>
        <p:spPr>
          <a:xfrm>
            <a:off x="4614333" y="4330700"/>
            <a:ext cx="29633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Én matte i seng eller rullestol, uten PC ved setet. Sender trådløst til PC eller server.</a:t>
            </a:r>
            <a:endParaRPr lang="en-US" sz="1100" dirty="0"/>
          </a:p>
        </p:txBody>
      </p:sp>
      <p:sp>
        <p:nvSpPr>
          <p:cNvPr id="34" name="Status pill Trådløs"/>
          <p:cNvSpPr/>
          <p:nvPr/>
        </p:nvSpPr>
        <p:spPr>
          <a:xfrm>
            <a:off x="4614333" y="4940300"/>
            <a:ext cx="1823720" cy="241300"/>
          </a:xfrm>
          <a:prstGeom prst="roundRect">
            <a:avLst>
              <a:gd name="adj" fmla="val 2652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5" name="Status text Trådløs"/>
          <p:cNvSpPr txBox="1"/>
          <p:nvPr/>
        </p:nvSpPr>
        <p:spPr>
          <a:xfrm>
            <a:off x="4614333" y="4940300"/>
            <a:ext cx="182372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Under utvikling</a:t>
            </a:r>
            <a:endParaRPr lang="en-US" sz="1000" dirty="0"/>
          </a:p>
        </p:txBody>
      </p:sp>
      <p:sp>
        <p:nvSpPr>
          <p:cNvPr id="36" name="Setup card Avdeling"/>
          <p:cNvSpPr/>
          <p:nvPr/>
        </p:nvSpPr>
        <p:spPr>
          <a:xfrm>
            <a:off x="8009467" y="3378200"/>
            <a:ext cx="3369733" cy="1905000"/>
          </a:xfrm>
          <a:prstGeom prst="roundRect">
            <a:avLst>
              <a:gd name="adj" fmla="val 2016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7" name="Setup name Avdeling"/>
          <p:cNvSpPr txBox="1"/>
          <p:nvPr/>
        </p:nvSpPr>
        <p:spPr>
          <a:xfrm>
            <a:off x="8212667" y="35433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Avdeling</a:t>
            </a:r>
            <a:endParaRPr lang="en-US" sz="1200" dirty="0"/>
          </a:p>
        </p:txBody>
      </p:sp>
      <p:sp>
        <p:nvSpPr>
          <p:cNvPr id="38" name="Setup chain Avdeling"/>
          <p:cNvSpPr txBox="1"/>
          <p:nvPr/>
        </p:nvSpPr>
        <p:spPr>
          <a:xfrm>
            <a:off x="8212667" y="3835400"/>
            <a:ext cx="29633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Flere matter › WiFi › lokal server</a:t>
            </a:r>
            <a:endParaRPr lang="en-US" sz="1100" dirty="0"/>
          </a:p>
        </p:txBody>
      </p:sp>
      <p:sp>
        <p:nvSpPr>
          <p:cNvPr id="39" name="Setup best label Avdeling"/>
          <p:cNvSpPr txBox="1"/>
          <p:nvPr/>
        </p:nvSpPr>
        <p:spPr>
          <a:xfrm>
            <a:off x="8212667" y="4140200"/>
            <a:ext cx="29633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 best for</a:t>
            </a:r>
            <a:endParaRPr lang="en-US" sz="1000" dirty="0"/>
          </a:p>
        </p:txBody>
      </p:sp>
      <p:sp>
        <p:nvSpPr>
          <p:cNvPr id="40" name="Setup best Avdeling"/>
          <p:cNvSpPr txBox="1"/>
          <p:nvPr/>
        </p:nvSpPr>
        <p:spPr>
          <a:xfrm>
            <a:off x="8212667" y="4330700"/>
            <a:ext cx="29633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Sykehjem og avdelinger med mange brukere. Samlet oversikt og vaktvarsler.</a:t>
            </a:r>
            <a:endParaRPr lang="en-US" sz="1100" dirty="0"/>
          </a:p>
        </p:txBody>
      </p:sp>
      <p:sp>
        <p:nvSpPr>
          <p:cNvPr id="41" name="Status pill Avdeling"/>
          <p:cNvSpPr/>
          <p:nvPr/>
        </p:nvSpPr>
        <p:spPr>
          <a:xfrm>
            <a:off x="8212667" y="4940300"/>
            <a:ext cx="1427480" cy="241300"/>
          </a:xfrm>
          <a:prstGeom prst="roundRect">
            <a:avLst>
              <a:gd name="adj" fmla="val 26526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2" name="Status text Avdeling"/>
          <p:cNvSpPr txBox="1"/>
          <p:nvPr/>
        </p:nvSpPr>
        <p:spPr>
          <a:xfrm>
            <a:off x="8212667" y="4940300"/>
            <a:ext cx="142748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I testing</a:t>
            </a:r>
            <a:endParaRPr lang="en-US" sz="1000" dirty="0"/>
          </a:p>
        </p:txBody>
      </p:sp>
      <p:sp>
        <p:nvSpPr>
          <p:cNvPr id="43" name="Recommendation box"/>
          <p:cNvSpPr/>
          <p:nvPr/>
        </p:nvSpPr>
        <p:spPr>
          <a:xfrm>
            <a:off x="812800" y="5435600"/>
            <a:ext cx="10566400" cy="584200"/>
          </a:xfrm>
          <a:prstGeom prst="roundRect">
            <a:avLst>
              <a:gd name="adj" fmla="val 6574"/>
            </a:avLst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</p:sp>
      <p:sp>
        <p:nvSpPr>
          <p:cNvPr id="44" name="Recommendation text"/>
          <p:cNvSpPr txBox="1"/>
          <p:nvPr/>
        </p:nvSpPr>
        <p:spPr>
          <a:xfrm>
            <a:off x="1016000" y="5435600"/>
            <a:ext cx="1016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Anbefaling for pilot: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Direkte. Raskest i gang, ingenting å sette opp i nettverket, og dataene blir på PC-en. Vi bygger ut til trådløst eller avdelingsoppsett når dere trenger det.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1027430"/>
            <a:ext cx="9906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0"/>
              </a:lnSpc>
              <a:buNone/>
            </a:pPr>
            <a:r>
              <a:rPr lang="en-US" sz="2800" b="1" spc="-5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oversiktlig dashbord som viser hvem som trenger avlastning, og hvor</a:t>
            </a:r>
            <a:endParaRPr lang="en-US" sz="2800" dirty="0"/>
          </a:p>
        </p:txBody>
      </p:sp>
      <p:pic>
        <p:nvPicPr>
          <p:cNvPr id="3" name="Image 0" descr="Skjermbilde av SmartMat-dashbordet med brukerliste og trykkart (eksempeldat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27" y="2031492"/>
            <a:ext cx="5206746" cy="34955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21146" y="2184146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21146" y="2755773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1146" y="3327146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1146" y="3898773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1146" y="4470146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1146" y="5041773"/>
            <a:ext cx="990727" cy="0"/>
          </a:xfrm>
          <a:prstGeom prst="line">
            <a:avLst/>
          </a:prstGeom>
          <a:noFill/>
          <a:ln w="12573">
            <a:solidFill>
              <a:srgbClr val="12182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2546" y="5587873"/>
            <a:ext cx="10566400" cy="0"/>
          </a:xfrm>
          <a:prstGeom prst="line">
            <a:avLst/>
          </a:prstGeom>
          <a:noFill/>
          <a:ln w="9398">
            <a:solidFill>
              <a:srgbClr val="D3D7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8873" y="2087499"/>
            <a:ext cx="2136394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Varsler til skjerm (telefon under utvikling)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238873" y="2269998"/>
            <a:ext cx="3481197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Personalet får beskjed når noen trenger avlastning.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38873" y="2658745"/>
            <a:ext cx="15648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Sanntidsindikatorer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238873" y="2841244"/>
            <a:ext cx="3042412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og tid i samme stilling for hver bruker.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38873" y="3230499"/>
            <a:ext cx="1243711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Romlig trykkart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238873" y="3412998"/>
            <a:ext cx="3944366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Viser hvor trykket bygger seg opp, med grovt vektestimat.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38873" y="3801745"/>
            <a:ext cx="20689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Tilpassbare risikoindekser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238873" y="3984244"/>
            <a:ext cx="272884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Egne terskler per enhet eller per bruker.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38873" y="4373499"/>
            <a:ext cx="1618869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Opptak og avspilling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238873" y="4555998"/>
            <a:ext cx="2074672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tidligere hendelser på nytt.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238873" y="4944745"/>
            <a:ext cx="184404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 og avansert modus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238873" y="5127244"/>
            <a:ext cx="39334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Lett for elever og helsearbeidere, avansert for analytikere.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12546" y="5693918"/>
            <a:ext cx="155663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Nettleser-dashbord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12546" y="5876417"/>
            <a:ext cx="1246505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Ingen installasjon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504946" y="5693918"/>
            <a:ext cx="135572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Sporbarhetslogg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504946" y="5876417"/>
            <a:ext cx="1726565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Hvem gjorde hva, og når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197346" y="5693918"/>
            <a:ext cx="1297051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PIN-beskyttelse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97346" y="5876417"/>
            <a:ext cx="221627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På alle endringer og kvitteringer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889492" y="5693918"/>
            <a:ext cx="110807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Selvdiagnose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889492" y="5876417"/>
            <a:ext cx="1792859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Varsler ved defekt sensor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12800" y="998220"/>
            <a:ext cx="1056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Utviklet i Norge, sensoren produseres av vår partner i Kina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546" y="2127250"/>
            <a:ext cx="3386836" cy="1346454"/>
          </a:xfrm>
          <a:prstGeom prst="roundRect">
            <a:avLst>
              <a:gd name="adj" fmla="val 2852"/>
            </a:avLst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02455" y="2127250"/>
            <a:ext cx="3386836" cy="1346454"/>
          </a:xfrm>
          <a:prstGeom prst="roundRect">
            <a:avLst>
              <a:gd name="adj" fmla="val 2852"/>
            </a:avLst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91983" y="2127250"/>
            <a:ext cx="3386836" cy="1346454"/>
          </a:xfrm>
          <a:prstGeom prst="roundRect">
            <a:avLst>
              <a:gd name="adj" fmla="val 2852"/>
            </a:avLst>
          </a:prstGeom>
          <a:solidFill>
            <a:schemeClr val="bg1"/>
          </a:solidFill>
          <a:ln w="9398">
            <a:solidFill>
              <a:schemeClr val="accent3"/>
            </a:solidFill>
            <a:prstDash val="solid"/>
          </a:ln>
        </p:spPr>
      </p:sp>
      <p:pic>
        <p:nvPicPr>
          <p:cNvPr id="6" name="Image 0" descr="Portrett av Andreas Sørens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27" y="5054346"/>
            <a:ext cx="939546" cy="939546"/>
          </a:xfrm>
          <a:prstGeom prst="rect">
            <a:avLst/>
          </a:prstGeom>
        </p:spPr>
      </p:pic>
      <p:pic>
        <p:nvPicPr>
          <p:cNvPr id="7" name="Image 1" descr="Portrett av Even Mæl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773" y="5054346"/>
            <a:ext cx="939546" cy="939546"/>
          </a:xfrm>
          <a:prstGeom prst="rect">
            <a:avLst/>
          </a:prstGeom>
        </p:spPr>
      </p:pic>
      <p:pic>
        <p:nvPicPr>
          <p:cNvPr id="8" name="Image 2" descr="Portrett av Tage Fossgard-Mo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427" y="5054346"/>
            <a:ext cx="939546" cy="9395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2546" y="3784727"/>
            <a:ext cx="3386836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402455" y="3784727"/>
            <a:ext cx="3386582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992364" y="3784727"/>
            <a:ext cx="3386455" cy="0"/>
          </a:xfrm>
          <a:prstGeom prst="line">
            <a:avLst/>
          </a:prstGeom>
          <a:noFill/>
          <a:ln w="12573">
            <a:solidFill>
              <a:srgbClr val="2F7A5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15873" y="2366137"/>
            <a:ext cx="1192657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Utviklet av oss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1015873" y="2664841"/>
            <a:ext cx="27330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Programvare og logikk er utviklet av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15873" y="2885948"/>
            <a:ext cx="3147060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Verdian Medical i Norge, sammen med klinisk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015873" y="3106928"/>
            <a:ext cx="1398905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tilpasning og støtte.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605909" y="2366137"/>
            <a:ext cx="1286129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Produsert i Kina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5909" y="2664841"/>
            <a:ext cx="27204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Sensoren og tekstilet produseres av en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605909" y="2885948"/>
            <a:ext cx="2391029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etablert produksjonspartner i Kina.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195818" y="2366137"/>
            <a:ext cx="1178306" cy="184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Lokalt og trygt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195818" y="2664841"/>
            <a:ext cx="305828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lagres og prosesseres lokalt, ingen sky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95818" y="2885948"/>
            <a:ext cx="2809240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nødvendig. CE-merking etter EU MDR er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195818" y="3106928"/>
            <a:ext cx="1408176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forberedelse.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12546" y="3993642"/>
            <a:ext cx="147307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Andreas Sørensen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12546" y="4260342"/>
            <a:ext cx="19584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Daglig leder og medgründer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12546" y="4518914"/>
            <a:ext cx="2495677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Kybernetikk og robotikk, NTNU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12546" y="4739894"/>
            <a:ext cx="2808986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+47 960 45 124, andsoren@stud.ntnu.no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402455" y="3993642"/>
            <a:ext cx="105765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Mælum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4402455" y="4260342"/>
            <a:ext cx="2315591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Teknologidirektør og medgründer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4402455" y="4518914"/>
            <a:ext cx="2511679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MSc Robotikk og automasjon, NTNU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402455" y="4739894"/>
            <a:ext cx="2734691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+47 469 21 177, evenmae@stud.ntnu.no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7991983" y="3993642"/>
            <a:ext cx="173469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Tage Fossgard-Moser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7991983" y="4260342"/>
            <a:ext cx="210870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Finansdirektør og medgründer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7991983" y="4518914"/>
            <a:ext cx="2219452" cy="168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BSc International Business, CBS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7991983" y="4739894"/>
            <a:ext cx="2866136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+45 281 27 119, tafo22ab@student.cbs.dk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239510"/>
            <a:ext cx="509270" cy="184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7D879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ian Medical">
  <a:themeElements>
    <a:clrScheme name="Verdian Medical">
      <a:dk1>
        <a:srgbClr val="121820"/>
      </a:dk1>
      <a:lt1>
        <a:srgbClr val="FFFFFF"/>
      </a:lt1>
      <a:dk2>
        <a:srgbClr val="4A5363"/>
      </a:dk2>
      <a:lt2>
        <a:srgbClr val="F4F5F6"/>
      </a:lt2>
      <a:accent1>
        <a:srgbClr val="2F7A5E"/>
      </a:accent1>
      <a:accent2>
        <a:srgbClr val="5FB892"/>
      </a:accent2>
      <a:accent3>
        <a:srgbClr val="E3E6E9"/>
      </a:accent3>
      <a:accent4>
        <a:srgbClr val="7D8792"/>
      </a:accent4>
      <a:accent5>
        <a:srgbClr val="E9F2EE"/>
      </a:accent5>
      <a:accent6>
        <a:srgbClr val="5F6873"/>
      </a:accent6>
      <a:hlink>
        <a:srgbClr val="2F7A5E"/>
      </a:hlink>
      <a:folHlink>
        <a:srgbClr val="4A5363"/>
      </a:folHlink>
    </a:clrScheme>
    <a:fontScheme name="Verdian Medical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SmartMat — Product Deck</dc:title>
  <dc:subject>Produktpresentasjon v16</dc:subject>
  <dc:creator>Verdian Medical</dc:creator>
  <cp:lastModifiedBy>Verdian Medical</cp:lastModifiedBy>
  <cp:revision>1</cp:revision>
  <dcterms:created xsi:type="dcterms:W3CDTF">2026-10-20T14:56:57Z</dcterms:created>
  <dcterms:modified xsi:type="dcterms:W3CDTF">2026-10-20T14:56:57Z</dcterms:modified>
</cp:coreProperties>
</file>